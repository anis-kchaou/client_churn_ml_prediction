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Variance expliquée cumulée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Variance cumulée (%)</c:v>
                </c:pt>
              </c:strCache>
            </c:strRef>
          </c:tx>
          <c:spPr>
            <a:solidFill>
              <a:srgbClr val="0D9488"/>
            </a:solidFill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28</c:v>
                </c:pt>
                <c:pt idx="1">
                  <c:v>45</c:v>
                </c:pt>
                <c:pt idx="2">
                  <c:v>57</c:v>
                </c:pt>
                <c:pt idx="3">
                  <c:v>66</c:v>
                </c:pt>
                <c:pt idx="4">
                  <c:v>73</c:v>
                </c:pt>
                <c:pt idx="5">
                  <c:v>79</c:v>
                </c:pt>
                <c:pt idx="6">
                  <c:v>84</c:v>
                </c:pt>
                <c:pt idx="7">
                  <c:v>88</c:v>
                </c:pt>
                <c:pt idx="8">
                  <c:v>92</c:v>
                </c:pt>
                <c:pt idx="9">
                  <c:v>95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164592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91440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Comportementale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169164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Clientèle Retail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2651760"/>
            <a:ext cx="9144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283464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CFCC"/>
                </a:solidFill>
              </a:rPr>
              <a:t>Pipeline ML complet · E-commerce de Cadeaux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329184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AAA7"/>
                </a:solidFill>
              </a:rPr>
              <a:t>GI2 · 2025–2026 · Fadoua Drira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VUE D'ENSEMBLE DU PIPELINE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14630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80160"/>
            <a:ext cx="1463040" cy="5943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8016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38912" y="196596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Données brutes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2606040"/>
            <a:ext cx="1325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52 features · données imparfaites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47088" y="2514600"/>
            <a:ext cx="201168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66544" y="1280160"/>
            <a:ext cx="14630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66544" y="1280160"/>
            <a:ext cx="146304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66544" y="128016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139696" y="196596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Preprocessing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39696" y="2606040"/>
            <a:ext cx="1325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Nettoyage · encodage · normalisation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547872" y="2514600"/>
            <a:ext cx="201168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67328" y="1280160"/>
            <a:ext cx="14630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67328" y="1280160"/>
            <a:ext cx="1463040" cy="59436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67328" y="128016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840480" y="196596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ACP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0" y="2606040"/>
            <a:ext cx="1325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Réduction de dimension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248656" y="2514600"/>
            <a:ext cx="201168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68112" y="1280160"/>
            <a:ext cx="14630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68112" y="1280160"/>
            <a:ext cx="146304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68112" y="128016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541264" y="196596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Modélisation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41264" y="2606040"/>
            <a:ext cx="1325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KMeans · Random Forest · LR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949440" y="2514600"/>
            <a:ext cx="201168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68896" y="1280160"/>
            <a:ext cx="14630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168896" y="1280160"/>
            <a:ext cx="1463040" cy="5943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68896" y="128016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242048" y="196596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Évaluation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242048" y="2606040"/>
            <a:ext cx="1325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Métriques · classification report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LES DONNÉES : PROBLÈMES DE QUALITÉ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560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</a:rPr>
              <a:t>52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57276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Features totales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1051560"/>
            <a:ext cx="2560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53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09728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55353"/>
                </a:solidFill>
              </a:rPr>
              <a:t>30%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00400" y="157276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Valeurs manquantes (Age)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35040" y="1051560"/>
            <a:ext cx="2560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109728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</a:rPr>
              <a:t>5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035040" y="157276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Types de problèmes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148840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148840"/>
            <a:ext cx="9144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194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Valeurs manquantes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26080" y="21945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Age (30%)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0" y="2231136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2231136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KNN Imputer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834640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834640"/>
            <a:ext cx="91440" cy="594360"/>
          </a:xfrm>
          <a:prstGeom prst="rect">
            <a:avLst/>
          </a:prstGeom>
          <a:solidFill>
            <a:srgbClr val="E55353"/>
          </a:solidFill>
          <a:ln w="12700">
            <a:solidFill>
              <a:srgbClr val="E553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880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Valeurs aberrantes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926080" y="28803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SupportTickets (-1, 999)  |  Satisfaction (-1, 0, 99)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75120" y="2916936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E55353"/>
          </a:solidFill>
          <a:ln w="12700">
            <a:solidFill>
              <a:srgbClr val="E5535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2916936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→ NaN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520440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520440"/>
            <a:ext cx="9144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566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Formats inconsistants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926080" y="3566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RegistrationDate : UK / ISO / US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75120" y="3602736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0" y="3602736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Parsing pandas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4206240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65760" y="4206240"/>
            <a:ext cx="91440" cy="5943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42519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Feature inutile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926080" y="42519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Newsletter (constante = Yes)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675120" y="4288536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0" y="4288536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Suppression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PREPROCESSING — Nettoyage</a:t>
            </a:r>
            <a:endParaRPr lang="en-US" sz="2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097280"/>
            <a:ext cx="1188720" cy="1188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097280"/>
            <a:ext cx="6858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51560" y="113385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Suppression Newsletter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51560" y="142646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Colonne constante (toujours = Yes) → variance nulle → inutile pour le modèle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65760" y="1865376"/>
            <a:ext cx="6858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1956816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9568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51560" y="190195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Extraction LastLoginIP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51560" y="219456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IP privée/publique → nouvelle feature binaire IP_Privée (0 ou 1)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5760" y="2633472"/>
            <a:ext cx="6858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7200" y="2724912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2724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51560" y="267004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Parsing RegistrationDate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51560" y="296265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Formats mixtes → pd.to_datetime(dayfirst=True) → RegYear, RegMonth, RegDay, RegWeekday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65760" y="3401568"/>
            <a:ext cx="6858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57200" y="3493008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3493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051560" y="343814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Correction valeurs aberrantes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051560" y="373075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SupportTickets {-1, 999} → NaN  ·  Satisfaction {-1, 0, 99} → NaN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65760" y="4169664"/>
            <a:ext cx="6858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57200" y="4261104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4261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051560" y="42062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KNN Imputer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051560" y="449884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Remplace chaque NaN par la moyenne pondérée des k=5 voisins les plus proches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FEATURE ENGINEERING — Nouvelles Variables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Créer de l'information supplémentaire à partir des features existantes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8412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9144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996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MonetaryPerDay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792224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MonetaryTotal / (Recency + 1)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517904"/>
            <a:ext cx="3931920" cy="502920"/>
          </a:xfrm>
          <a:prstGeom prst="rect">
            <a:avLst/>
          </a:prstGeom>
          <a:solidFill>
            <a:srgbClr val="E8F4F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51790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💡 Dépense journalière → normalise par l'inactivité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8412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176272"/>
            <a:ext cx="91440" cy="62179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2128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AvgBasketValue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2505456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MonetaryTotal / Frequency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2231136"/>
            <a:ext cx="3931920" cy="502920"/>
          </a:xfrm>
          <a:prstGeom prst="rect">
            <a:avLst/>
          </a:prstGeom>
          <a:solidFill>
            <a:srgbClr val="E8F4F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223113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💡 Panier moyen → proxy du niveau de vie client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889504"/>
            <a:ext cx="8412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889504"/>
            <a:ext cx="91440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9260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TenureRatio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3218688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Recency / CustomerTenure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2944368"/>
            <a:ext cx="3931920" cy="502920"/>
          </a:xfrm>
          <a:prstGeom prst="rect">
            <a:avLst/>
          </a:prstGeom>
          <a:solidFill>
            <a:srgbClr val="E8F4F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94436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💡 Ratio inactivité/ancienneté → détecte le décrochage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602736"/>
            <a:ext cx="8412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602736"/>
            <a:ext cx="91440" cy="6217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6393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RegYear / RegMonth / RegDay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4360" y="393192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pd.to_datetime(RegistrationDate)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3657600"/>
            <a:ext cx="3931920" cy="502920"/>
          </a:xfrm>
          <a:prstGeom prst="rect">
            <a:avLst/>
          </a:prstGeom>
          <a:solidFill>
            <a:srgbClr val="E8F4F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36576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💡 Extraction temporelle → saisonnalité d'inscription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315968"/>
            <a:ext cx="8412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4315968"/>
            <a:ext cx="91440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43525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IP_Privée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4360" y="464515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LastLoginIP.startswith('192.168', '10.')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4370832"/>
            <a:ext cx="3931920" cy="502920"/>
          </a:xfrm>
          <a:prstGeom prst="rect">
            <a:avLst/>
          </a:prstGeom>
          <a:solidFill>
            <a:srgbClr val="E8F4F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437083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💡 Binaire : connexion depuis réseau privé ou public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PREPROCESSING — Encodage Catégoriel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402336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ENCODAGE ORDINAL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Variables avec un ordre logique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SpendingCat : Low → Medium → High → VIP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LoyaltyLevel : Nouveau → Jeune → Établi → Ancien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ChurnRisk : Faible → Moyen → Élevé → Critique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AgeCategory : 18-24 → 25-34 → ... → 65+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BasketSize : Petit → Moyen → Grand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97280"/>
            <a:ext cx="4023360" cy="5486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972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ONE-HOT ENCODING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737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Variables sans ordre logique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0" y="210312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CustomerType : Hyperactif, Régulier, Nouveau...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FavoriteSeason : Hiver, Printemps, Été, Automne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 : UK, Europe N/S/E/C, Asie, Autre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Gender : M, F, Unknown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AccountStatus : Active, Suspended, Closed...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PREPROCESSING — Imputation · Split · Normalisation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109728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1615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KNN Imputer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673352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Remplace les NaN par la moyenne des k=5 voisins les plus proches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Appliqué sur X avant le split → sauvegardé : models/imputer.joblib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404872"/>
            <a:ext cx="8412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404872"/>
            <a:ext cx="109728" cy="111556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478024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</a:rPr>
              <a:t>Train / Test Split  (80% / 20%)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935224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Stratifié sur y (Churn) → préserve la proportion des classes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random_state=42 pour la reproductibilité des résultats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666744"/>
            <a:ext cx="8412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666744"/>
            <a:ext cx="109728" cy="11155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739896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StandardScaler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4197096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Centre les données : moyenne = 0, écart-type = 1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fit_transform() sur X_train uniquement → transform() sur X_test → évite le data leakage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ACP — Réduction de Dimension</a:t>
            </a:r>
            <a:endParaRPr lang="en-US" sz="2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51560"/>
          <a:ext cx="53035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097280"/>
            <a:ext cx="2834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0" y="1133856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</a:rPr>
              <a:t>52 → 10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943600" y="169164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Réduction features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943600" y="2286000"/>
            <a:ext cx="2834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943600" y="2322576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</a:rPr>
              <a:t>95%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943600" y="288036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Variance conservée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43600" y="3474720"/>
            <a:ext cx="2834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943600" y="3511296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</a:rPr>
              <a:t>×5+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5943600" y="406908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Calcul accéléré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MODÈLE 1 — KMeans Clustering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Segmentation non supervisée des clients en 4 groupes comportementaux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08760"/>
            <a:ext cx="41148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087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Champions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Achètent souvent, récemment, dépenses élevées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50876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508760"/>
            <a:ext cx="4114800" cy="4572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5087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Fidèles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92040" y="20574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Achats réguliers, bon montant moyen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88036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880360"/>
            <a:ext cx="41148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8803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Potentiels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2920" y="34290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Récents mais peu fréquents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288036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53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880360"/>
            <a:ext cx="4114800" cy="457200"/>
          </a:xfrm>
          <a:prstGeom prst="rect">
            <a:avLst/>
          </a:prstGeom>
          <a:solidFill>
            <a:srgbClr val="E55353"/>
          </a:solidFill>
          <a:ln w="12700">
            <a:solidFill>
              <a:srgbClr val="E553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8803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Dormants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92040" y="34290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N'achètent plus, risque churn élevé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43484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E8F4F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434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KMeans(n_clusters=4, random_state=42, n_init=10)  ·  Entraîné sur les composantes ACP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MODÈLE 2 — Random Forest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Classification supervisée — Prédiction du Churn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029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4630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Principe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847088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Ensemble de 100 arbres entraînés sur des sous-ensembles aléatoires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Vote majoritaire → prédiction finale : Churn 0 ou 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0" y="1417320"/>
            <a:ext cx="3200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852160" y="14630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</a:rPr>
              <a:t>Avantages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852160" y="1847088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Robuste aux outliers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Gère les données hétérogènes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Fournit l'importance des features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Métriques d'évaluation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33756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337560"/>
            <a:ext cx="192024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3375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Précision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79476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Parmi les prédits Churn=1, combien sont vrais 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68880" y="333756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68880" y="3337560"/>
            <a:ext cx="192024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0" y="33375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Rappel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60320" y="379476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Parmi les vrais Churn=1, combien détectés ?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333756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3337560"/>
            <a:ext cx="192024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33375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F1-Score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63440" y="379476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Équilibre Précision / Rappel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675120" y="333756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675120" y="3337560"/>
            <a:ext cx="192024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33375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Accuracy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66560" y="379476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% de prédictions correctes globales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solidFill>
            <a:srgbClr val="E8F4F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RandomForestClassifier(n_estimators=100, random_state=42)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MODÈLE 3 — Régression Logistique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Classification supervisée sur les composantes ACP — Simple et interprétable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44752"/>
            <a:ext cx="8412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49047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</a:rPr>
              <a:t>Principe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883664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Calcule la probabilité P(Churn=1) via la fonction sigmoïde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Seuil à 0.5 : si P &gt; 0.5 → Churn=1  |  si P ≤ 0.5 → Churn=0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Random Forest vs Régression Logistique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090672"/>
            <a:ext cx="8412480" cy="38404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09067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Critère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34640" y="309067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Random Forest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60720" y="309067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Régression Logistique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493008"/>
            <a:ext cx="8412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4930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Type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34640" y="349300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Non linéaire (arbres)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60720" y="349300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Linéaire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858768"/>
            <a:ext cx="8412480" cy="347472"/>
          </a:xfrm>
          <a:prstGeom prst="rect">
            <a:avLst/>
          </a:prstGeom>
          <a:solidFill>
            <a:srgbClr val="E8F4F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8587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Données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34640" y="38587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52 features brutes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760720" y="38587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10 composantes ACP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224528"/>
            <a:ext cx="8412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2245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Interprétabilité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834640" y="42245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Moyenne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60720" y="42245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Haute (coefficients)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590288"/>
            <a:ext cx="8412480" cy="347472"/>
          </a:xfrm>
          <a:prstGeom prst="rect">
            <a:avLst/>
          </a:prstGeom>
          <a:solidFill>
            <a:srgbClr val="E8F4F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5902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Performance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834640" y="459028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Généralement meilleure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760720" y="459028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Bonne baseline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VALIDATION CROISÉE — Cross-Validation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Évaluer la performance du modèle de manière fiable, sans biais de split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1572768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63040"/>
            <a:ext cx="1572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TEST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29968" y="1463040"/>
            <a:ext cx="1572768" cy="420624"/>
          </a:xfrm>
          <a:prstGeom prst="rect">
            <a:avLst/>
          </a:prstGeom>
          <a:solidFill>
            <a:srgbClr val="E8F4F2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29968" y="1463040"/>
            <a:ext cx="1572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Train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94176" y="1463040"/>
            <a:ext cx="1572768" cy="420624"/>
          </a:xfrm>
          <a:prstGeom prst="rect">
            <a:avLst/>
          </a:prstGeom>
          <a:solidFill>
            <a:srgbClr val="E8F4F2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94176" y="1463040"/>
            <a:ext cx="1572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Train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58384" y="1463040"/>
            <a:ext cx="1572768" cy="420624"/>
          </a:xfrm>
          <a:prstGeom prst="rect">
            <a:avLst/>
          </a:prstGeom>
          <a:solidFill>
            <a:srgbClr val="E8F4F2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58384" y="1463040"/>
            <a:ext cx="1572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Train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22592" y="1463040"/>
            <a:ext cx="1572768" cy="420624"/>
          </a:xfrm>
          <a:prstGeom prst="rect">
            <a:avLst/>
          </a:prstGeom>
          <a:solidFill>
            <a:srgbClr val="E8F4F2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22592" y="1463040"/>
            <a:ext cx="1572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Train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146304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Score 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1938528"/>
            <a:ext cx="1572768" cy="420624"/>
          </a:xfrm>
          <a:prstGeom prst="rect">
            <a:avLst/>
          </a:prstGeom>
          <a:solidFill>
            <a:srgbClr val="E8F4F2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938528"/>
            <a:ext cx="1572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Train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029968" y="1938528"/>
            <a:ext cx="1572768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29968" y="1938528"/>
            <a:ext cx="1572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TEST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94176" y="1938528"/>
            <a:ext cx="1572768" cy="420624"/>
          </a:xfrm>
          <a:prstGeom prst="rect">
            <a:avLst/>
          </a:prstGeom>
          <a:solidFill>
            <a:srgbClr val="E8F4F2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94176" y="1938528"/>
            <a:ext cx="1572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Train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358384" y="1938528"/>
            <a:ext cx="1572768" cy="420624"/>
          </a:xfrm>
          <a:prstGeom prst="rect">
            <a:avLst/>
          </a:prstGeom>
          <a:solidFill>
            <a:srgbClr val="E8F4F2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58384" y="1938528"/>
            <a:ext cx="1572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Train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022592" y="1938528"/>
            <a:ext cx="1572768" cy="420624"/>
          </a:xfrm>
          <a:prstGeom prst="rect">
            <a:avLst/>
          </a:prstGeom>
          <a:solidFill>
            <a:srgbClr val="E8F4F2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22592" y="1938528"/>
            <a:ext cx="1572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Train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732520" y="193852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Score 2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2414016"/>
            <a:ext cx="1572768" cy="420624"/>
          </a:xfrm>
          <a:prstGeom prst="rect">
            <a:avLst/>
          </a:prstGeom>
          <a:solidFill>
            <a:srgbClr val="E8F4F2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2414016"/>
            <a:ext cx="1572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Train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029968" y="2414016"/>
            <a:ext cx="1572768" cy="420624"/>
          </a:xfrm>
          <a:prstGeom prst="rect">
            <a:avLst/>
          </a:prstGeom>
          <a:solidFill>
            <a:srgbClr val="E8F4F2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29968" y="2414016"/>
            <a:ext cx="1572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Train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94176" y="2414016"/>
            <a:ext cx="1572768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94176" y="2414016"/>
            <a:ext cx="1572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TEST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358384" y="2414016"/>
            <a:ext cx="1572768" cy="420624"/>
          </a:xfrm>
          <a:prstGeom prst="rect">
            <a:avLst/>
          </a:prstGeom>
          <a:solidFill>
            <a:srgbClr val="E8F4F2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58384" y="2414016"/>
            <a:ext cx="1572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Train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022592" y="2414016"/>
            <a:ext cx="1572768" cy="420624"/>
          </a:xfrm>
          <a:prstGeom prst="rect">
            <a:avLst/>
          </a:prstGeom>
          <a:solidFill>
            <a:srgbClr val="E8F4F2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22592" y="2414016"/>
            <a:ext cx="1572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Train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732520" y="241401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Score 3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2889504"/>
            <a:ext cx="1572768" cy="420624"/>
          </a:xfrm>
          <a:prstGeom prst="rect">
            <a:avLst/>
          </a:prstGeom>
          <a:solidFill>
            <a:srgbClr val="E8F4F2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2889504"/>
            <a:ext cx="1572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Train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029968" y="2889504"/>
            <a:ext cx="1572768" cy="420624"/>
          </a:xfrm>
          <a:prstGeom prst="rect">
            <a:avLst/>
          </a:prstGeom>
          <a:solidFill>
            <a:srgbClr val="E8F4F2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029968" y="2889504"/>
            <a:ext cx="1572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Train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94176" y="2889504"/>
            <a:ext cx="1572768" cy="420624"/>
          </a:xfrm>
          <a:prstGeom prst="rect">
            <a:avLst/>
          </a:prstGeom>
          <a:solidFill>
            <a:srgbClr val="E8F4F2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94176" y="2889504"/>
            <a:ext cx="1572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Train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358384" y="2889504"/>
            <a:ext cx="1572768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58384" y="2889504"/>
            <a:ext cx="1572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TEST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022592" y="2889504"/>
            <a:ext cx="1572768" cy="420624"/>
          </a:xfrm>
          <a:prstGeom prst="rect">
            <a:avLst/>
          </a:prstGeom>
          <a:solidFill>
            <a:srgbClr val="E8F4F2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22592" y="2889504"/>
            <a:ext cx="1572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Train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732520" y="288950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Score 4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65760" y="3364992"/>
            <a:ext cx="1572768" cy="420624"/>
          </a:xfrm>
          <a:prstGeom prst="rect">
            <a:avLst/>
          </a:prstGeom>
          <a:solidFill>
            <a:srgbClr val="E8F4F2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3364992"/>
            <a:ext cx="1572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Train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029968" y="3364992"/>
            <a:ext cx="1572768" cy="420624"/>
          </a:xfrm>
          <a:prstGeom prst="rect">
            <a:avLst/>
          </a:prstGeom>
          <a:solidFill>
            <a:srgbClr val="E8F4F2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029968" y="3364992"/>
            <a:ext cx="1572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Train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694176" y="3364992"/>
            <a:ext cx="1572768" cy="420624"/>
          </a:xfrm>
          <a:prstGeom prst="rect">
            <a:avLst/>
          </a:prstGeom>
          <a:solidFill>
            <a:srgbClr val="E8F4F2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94176" y="3364992"/>
            <a:ext cx="1572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Train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358384" y="3364992"/>
            <a:ext cx="1572768" cy="420624"/>
          </a:xfrm>
          <a:prstGeom prst="rect">
            <a:avLst/>
          </a:prstGeom>
          <a:solidFill>
            <a:srgbClr val="E8F4F2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58384" y="3364992"/>
            <a:ext cx="1572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Train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022592" y="3364992"/>
            <a:ext cx="1572768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022592" y="3364992"/>
            <a:ext cx="1572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TEST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732520" y="336499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Score 5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65760" y="3931920"/>
            <a:ext cx="8412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365760" y="3931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Score final = moyenne des 5 scores  →  estimation robuste de la performance réelle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365760" y="4526280"/>
            <a:ext cx="8412480" cy="384048"/>
          </a:xfrm>
          <a:prstGeom prst="rect">
            <a:avLst/>
          </a:prstGeom>
          <a:solidFill>
            <a:srgbClr val="E8F4F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65760" y="452628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cross_val_score(model, X_train, y_train, cv=5, scoring='f1')  →  [0.82, 0.84, 0.81, 0.83, 0.85]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HYPERPARAMÈTRES — GridSearchCV vs Optuna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Trouver la meilleure configuration du modèle automatiquement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63040"/>
            <a:ext cx="4023360" cy="53035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63040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GridSearchCV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Teste toutes les combinaisons possibles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Lent mais exhaustif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Idéal pour peu de paramètres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154680"/>
            <a:ext cx="3657600" cy="1463040"/>
          </a:xfrm>
          <a:prstGeom prst="rect">
            <a:avLst/>
          </a:prstGeom>
          <a:solidFill>
            <a:srgbClr val="E8F4F2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20040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param_grid =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'n_estimators': [50, 100, 200],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'max_depth': [5, 10, None]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GridSearchCV(rf, param_grid, cv=5)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46320" y="146304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463040"/>
            <a:ext cx="402336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463040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Optuna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2084832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Bayésien : utilise les résultats précédents pour guider la recherche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Plus rapide, moins de combinaisons testées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Idéal pour grands espaces de paramètres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0" y="3154680"/>
            <a:ext cx="3657600" cy="1463040"/>
          </a:xfrm>
          <a:prstGeom prst="rect">
            <a:avLst/>
          </a:prstGeom>
          <a:solidFill>
            <a:srgbClr val="E8F4F2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320040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objective(trial):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 = trial.suggest_int('n',50,200)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 = trial.suggest_int('d',3,15)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cross_val_score(...)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study.optimize(objective, n_trials=50)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C'est quoi le CHURN 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9144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CFCC"/>
                </a:solidFill>
              </a:rPr>
              <a:t>Un client qui churne = un client qui arrête d'acheter et quitte l'entreprise.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657600" cy="502920"/>
          </a:xfrm>
          <a:prstGeom prst="rect">
            <a:avLst/>
          </a:prstGeom>
          <a:solidFill>
            <a:srgbClr val="162B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202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55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Churn = 1  →  Client parti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920240"/>
            <a:ext cx="3657600" cy="502920"/>
          </a:xfrm>
          <a:prstGeom prst="rect">
            <a:avLst/>
          </a:prstGeom>
          <a:solidFill>
            <a:srgbClr val="162B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9202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Churn = 0  →  Client fidèle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2560320" cy="1920240"/>
          </a:xfrm>
          <a:prstGeom prst="rect">
            <a:avLst/>
          </a:prstGeom>
          <a:solidFill>
            <a:srgbClr val="162B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8346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</a:rPr>
              <a:t>5×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57200" y="35661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CFCC"/>
                </a:solidFill>
              </a:rPr>
              <a:t>Plus cher d'acquérir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ECFCC"/>
                </a:solidFill>
              </a:rPr>
              <a:t>un nouveau client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2743200"/>
            <a:ext cx="2560320" cy="1920240"/>
          </a:xfrm>
          <a:prstGeom prst="rect">
            <a:avLst/>
          </a:prstGeom>
          <a:solidFill>
            <a:srgbClr val="162B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28346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</a:rPr>
              <a:t>Prédit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291840" y="35661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CFCC"/>
                </a:solidFill>
              </a:rPr>
              <a:t>Avant que le client parte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ECFCC"/>
                </a:solidFill>
              </a:rPr>
              <a:t>→ agir en amont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2743200"/>
            <a:ext cx="2560320" cy="1920240"/>
          </a:xfrm>
          <a:prstGeom prst="rect">
            <a:avLst/>
          </a:prstGeom>
          <a:solidFill>
            <a:srgbClr val="162B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28346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</a:rPr>
              <a:t>Ciblé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126480" y="35661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CFCC"/>
                </a:solidFill>
              </a:rPr>
              <a:t>Offre personnalisée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ECFCC"/>
                </a:solidFill>
              </a:rPr>
              <a:t>pour les clients à risque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DÉPLOIEMENT — Interface Flask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Une API REST pour servir le modèle ML via une interface web légère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81328"/>
            <a:ext cx="1554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81328"/>
            <a:ext cx="1554480" cy="3200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8132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80136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JSON client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47088" y="1810512"/>
            <a:ext cx="128016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93392" y="1481328"/>
            <a:ext cx="1554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93392" y="1481328"/>
            <a:ext cx="1554480" cy="3200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93392" y="148132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039112" y="180136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Imputation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66160" y="1810512"/>
            <a:ext cx="128016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12464" y="1481328"/>
            <a:ext cx="1554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12464" y="1481328"/>
            <a:ext cx="1554480" cy="3200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12464" y="148132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58184" y="180136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Normalisation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85232" y="1810512"/>
            <a:ext cx="128016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31536" y="1481328"/>
            <a:ext cx="1554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31536" y="1481328"/>
            <a:ext cx="1554480" cy="3200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31536" y="148132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77256" y="180136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Prédiction RF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004304" y="1810512"/>
            <a:ext cx="128016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50608" y="1481328"/>
            <a:ext cx="1554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150608" y="1481328"/>
            <a:ext cx="1554480" cy="3200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50608" y="148132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196328" y="180136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Retour JSON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23957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Endpoints disponibles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65760" y="2816352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02920" y="2980944"/>
            <a:ext cx="777240" cy="411480"/>
          </a:xfrm>
          <a:prstGeom prst="roundRect">
            <a:avLst>
              <a:gd name="adj" fmla="val 1555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2980944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417320" y="29077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417320" y="327355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Page d'accueil avec documentation de l'API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3730752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02920" y="3895344"/>
            <a:ext cx="777240" cy="411480"/>
          </a:xfrm>
          <a:prstGeom prst="roundRect">
            <a:avLst>
              <a:gd name="adj" fmla="val 15556"/>
            </a:avLst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895344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POST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417320" y="38221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/predict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417320" y="418795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Reçoit un JSON client → retourne churn + probabilité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65760" y="4681728"/>
            <a:ext cx="8412480" cy="320040"/>
          </a:xfrm>
          <a:prstGeom prst="rect">
            <a:avLst/>
          </a:prstGeom>
          <a:solidFill>
            <a:srgbClr val="E8F4F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68172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"churn": 0, "probabilite_churn": 0.12, "interpretation": "Client fidèle" }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COMPARAISON DES MODÈLES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Modèle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11680" y="105156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Type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566160" y="105156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Entrée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120640" y="105156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Sortie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75120" y="10515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508760"/>
            <a:ext cx="8595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08760"/>
            <a:ext cx="91440" cy="9601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60020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KMeans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11680" y="16002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Non supervisé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66160" y="16002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ACP (10 comp.)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20640" y="16002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4 clusters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0" y="16002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Segmentation marketing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587752"/>
            <a:ext cx="8595360" cy="960120"/>
          </a:xfrm>
          <a:prstGeom prst="rect">
            <a:avLst/>
          </a:prstGeom>
          <a:solidFill>
            <a:srgbClr val="E8F4F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587752"/>
            <a:ext cx="9144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679192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Random Forest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11680" y="2679192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Supervisé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66160" y="2679192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52 features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20640" y="2679192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Churn 0 ou 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75120" y="267919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Prédiction churn robuste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666744"/>
            <a:ext cx="8595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666744"/>
            <a:ext cx="91440" cy="9601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758184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</a:rPr>
              <a:t>Régression Logistique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011680" y="3758184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Supervisé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566160" y="3758184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ACP (10 comp.)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20640" y="3758184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Churn 0/1 + proba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675120" y="3758184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Baseline interprétable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OBJECTIFS PÉDAGOGIQUES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56032" y="1078992"/>
            <a:ext cx="26517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1078992"/>
            <a:ext cx="2651760" cy="47548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133856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952" y="113385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Exploration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47472" y="162763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Analyser qualité et structure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136392" y="1078992"/>
            <a:ext cx="26517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136392" y="1078992"/>
            <a:ext cx="2651760" cy="47548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832" y="1133856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39312" y="113385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Nettoyage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227832" y="162763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Valeurs manquantes, aberrantes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16752" y="1078992"/>
            <a:ext cx="26517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016752" y="1078992"/>
            <a:ext cx="2651760" cy="47548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2" y="1133856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19672" y="113385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Feature Eng.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108192" y="162763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Créer de nouvelles variables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256032" y="2414016"/>
            <a:ext cx="26517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56032" y="2414016"/>
            <a:ext cx="2651760" cy="47548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2468880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8952" y="24688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Réduction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347472" y="2962656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ACP : 52 → 10 composantes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136392" y="2414016"/>
            <a:ext cx="26517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136392" y="2414016"/>
            <a:ext cx="2651760" cy="47548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7832" y="2468880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639312" y="24688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Modélisation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227832" y="2962656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KMeans · RF · LR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016752" y="2414016"/>
            <a:ext cx="26517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016752" y="2414016"/>
            <a:ext cx="2651760" cy="47548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8192" y="2468880"/>
            <a:ext cx="347472" cy="34747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519672" y="24688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Évaluation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108192" y="2962656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Précision, Rappel, F1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256032" y="3749040"/>
            <a:ext cx="26517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256032" y="3749040"/>
            <a:ext cx="2651760" cy="47548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" y="3803904"/>
            <a:ext cx="347472" cy="34747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58952" y="380390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Hyperparamètres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347472" y="429768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GridSearch · Optuna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3136392" y="3749040"/>
            <a:ext cx="26517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3136392" y="3749040"/>
            <a:ext cx="2651760" cy="47548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27832" y="3803904"/>
            <a:ext cx="347472" cy="347472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3639312" y="380390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Validation</a:t>
            </a:r>
            <a:endParaRPr lang="en-US" sz="1200" dirty="0"/>
          </a:p>
        </p:txBody>
      </p:sp>
      <p:sp>
        <p:nvSpPr>
          <p:cNvPr id="43" name="Text 33"/>
          <p:cNvSpPr/>
          <p:nvPr/>
        </p:nvSpPr>
        <p:spPr>
          <a:xfrm>
            <a:off x="3227832" y="429768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Cross-validation K-Fold</a:t>
            </a:r>
            <a:endParaRPr lang="en-US" sz="1000" dirty="0"/>
          </a:p>
        </p:txBody>
      </p:sp>
      <p:sp>
        <p:nvSpPr>
          <p:cNvPr id="44" name="Shape 34"/>
          <p:cNvSpPr/>
          <p:nvPr/>
        </p:nvSpPr>
        <p:spPr>
          <a:xfrm>
            <a:off x="6016752" y="3749040"/>
            <a:ext cx="26517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6016752" y="3749040"/>
            <a:ext cx="2651760" cy="47548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08192" y="3803904"/>
            <a:ext cx="347472" cy="347472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6519672" y="380390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Déploiement</a:t>
            </a:r>
            <a:endParaRPr lang="en-US" sz="1200" dirty="0"/>
          </a:p>
        </p:txBody>
      </p:sp>
      <p:sp>
        <p:nvSpPr>
          <p:cNvPr id="48" name="Text 37"/>
          <p:cNvSpPr/>
          <p:nvPr/>
        </p:nvSpPr>
        <p:spPr>
          <a:xfrm>
            <a:off x="6108192" y="429768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API Flask REST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⚠️  Data Leakage — Erreur à éviter absolument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" cy="64008"/>
          </a:xfrm>
          <a:prstGeom prst="rect">
            <a:avLst/>
          </a:prstGeom>
          <a:solidFill>
            <a:srgbClr val="E55353"/>
          </a:solidFill>
          <a:ln w="12700">
            <a:solidFill>
              <a:srgbClr val="E553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704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CFCC"/>
                </a:solidFill>
              </a:rPr>
              <a:t>Le Data Leakage = quand le modèle voit des informations du test pendant l'entraînement → résultats artificiellement bons, mais mauvais en production.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920240"/>
            <a:ext cx="8412480" cy="868680"/>
          </a:xfrm>
          <a:prstGeom prst="rect">
            <a:avLst/>
          </a:prstGeom>
          <a:solidFill>
            <a:srgbClr val="162B4A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93392"/>
            <a:ext cx="1828800" cy="32004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933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StandardScaler / Imputer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23160" y="197510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5353"/>
                </a:solidFill>
              </a:rPr>
              <a:t>❌  fit_transform() sur tout le dataset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577840" y="197510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✅  fit() sur X_train → transform() sur X_test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40680" y="2029968"/>
            <a:ext cx="54864" cy="640080"/>
          </a:xfrm>
          <a:prstGeom prst="rect">
            <a:avLst/>
          </a:prstGeom>
          <a:solidFill>
            <a:srgbClr val="2A3F5F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926080"/>
            <a:ext cx="8412480" cy="868680"/>
          </a:xfrm>
          <a:prstGeom prst="rect">
            <a:avLst/>
          </a:prstGeom>
          <a:solidFill>
            <a:srgbClr val="162B4A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999232"/>
            <a:ext cx="1828800" cy="32004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9992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Ordre des opérations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23160" y="298094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5353"/>
                </a:solidFill>
              </a:rPr>
              <a:t>❌  Normaliser avant le split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77840" y="298094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✅  Splitter d'abord, normaliser ensuite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40680" y="3035808"/>
            <a:ext cx="54864" cy="640080"/>
          </a:xfrm>
          <a:prstGeom prst="rect">
            <a:avLst/>
          </a:prstGeom>
          <a:solidFill>
            <a:srgbClr val="2A3F5F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931920"/>
            <a:ext cx="8412480" cy="868680"/>
          </a:xfrm>
          <a:prstGeom prst="rect">
            <a:avLst/>
          </a:prstGeom>
          <a:solidFill>
            <a:srgbClr val="162B4A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005072"/>
            <a:ext cx="1828800" cy="32004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0050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Feature Engineering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423160" y="398678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5353"/>
                </a:solidFill>
              </a:rPr>
              <a:t>❌  Utiliser une feature créée avec 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577840" y="398678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✅  Créer les features uniquement depuis X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40680" y="4041648"/>
            <a:ext cx="54864" cy="640080"/>
          </a:xfrm>
          <a:prstGeom prst="rect">
            <a:avLst/>
          </a:prstGeom>
          <a:solidFill>
            <a:srgbClr val="2A3F5F"/>
          </a:solidFill>
          <a:ln w="12700">
            <a:solidFill>
              <a:srgbClr val="2A3F5F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RÉSUMÉ — Pipeline ML Complet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61288"/>
            <a:ext cx="438912" cy="43891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61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2688" y="108813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Données brutes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2688" y="13990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52 features · imparfaites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051560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161288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161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67528" y="108813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Nettoyage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67528" y="13990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Suppression · parsing · aberrants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847088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1956816"/>
            <a:ext cx="438912" cy="438912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9568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32688" y="188366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Feature Engineering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32688" y="21945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 nouvelles features créées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1847088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1956816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9568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67528" y="188366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Encodage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67528" y="21945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Ordinal + One-Hot + Target encoding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642616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2752344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7523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32688" y="26791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Imputation KNN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32688" y="299008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Remplace les NaN par k voisins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2642616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2752344"/>
            <a:ext cx="438912" cy="438912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27523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67528" y="26791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Split 80/20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67528" y="299008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Stratifié · random_state=42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438144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5760" y="3547872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5478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32688" y="34747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StandardScaler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32688" y="378561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Normalise sur train uniquement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09160" y="3438144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00600" y="3547872"/>
            <a:ext cx="438912" cy="438912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35478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367528" y="34747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ACP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67528" y="378561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52 → 10 composantes (95% variance)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4233672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65760" y="4343400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3434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9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32688" y="427024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Modèles ML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32688" y="458114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KMeans · Random Forest · LR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709160" y="4233672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800600" y="4343400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0600" y="43434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367528" y="427024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Évaluation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367528" y="458114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Cross-val · métriques · rapport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Ce projet en résumé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229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70432"/>
            <a:ext cx="8229600" cy="420624"/>
          </a:xfrm>
          <a:prstGeom prst="rect">
            <a:avLst/>
          </a:prstGeom>
          <a:solidFill>
            <a:srgbClr val="162B4A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CFCC"/>
                </a:solidFill>
              </a:rPr>
              <a:t>▸  Pipeline ML complet : exploration → preprocessing → modélisation → évaluation → déploiement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55064"/>
            <a:ext cx="8229600" cy="420624"/>
          </a:xfrm>
          <a:prstGeom prst="rect">
            <a:avLst/>
          </a:prstGeom>
          <a:solidFill>
            <a:srgbClr val="162B4A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9164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CFCC"/>
                </a:solidFill>
              </a:rPr>
              <a:t>▸  Nettoyage de données réelles imparfaites : valeurs manquantes, aberrantes, formats mixtes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39696"/>
            <a:ext cx="8229600" cy="420624"/>
          </a:xfrm>
          <a:prstGeom prst="rect">
            <a:avLst/>
          </a:prstGeom>
          <a:solidFill>
            <a:srgbClr val="162B4A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17627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CFCC"/>
                </a:solidFill>
              </a:rPr>
              <a:t>▸  Feature Engineering : 3 nouvelles variables + extraction depuis IP et dates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624328"/>
            <a:ext cx="8229600" cy="420624"/>
          </a:xfrm>
          <a:prstGeom prst="rect">
            <a:avLst/>
          </a:prstGeom>
          <a:solidFill>
            <a:srgbClr val="162B4A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60904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CFCC"/>
                </a:solidFill>
              </a:rPr>
              <a:t>▸  ACP : réduction 52 → 10 composantes · 95% de la variance conservée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8229600" cy="420624"/>
          </a:xfrm>
          <a:prstGeom prst="rect">
            <a:avLst/>
          </a:prstGeom>
          <a:solidFill>
            <a:srgbClr val="162B4A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14553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CFCC"/>
                </a:solidFill>
              </a:rPr>
              <a:t>▸  3 modèles : KMeans (clustering) · Random Forest · Régression Logistique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593592"/>
            <a:ext cx="8229600" cy="420624"/>
          </a:xfrm>
          <a:prstGeom prst="rect">
            <a:avLst/>
          </a:prstGeom>
          <a:solidFill>
            <a:srgbClr val="162B4A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63016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CFCC"/>
                </a:solidFill>
              </a:rPr>
              <a:t>▸  Validation croisée K-Fold · Optimisation avec GridSearchCV / Optuna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Merci pour votre attention 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2026-04-20T04:21:15Z</dcterms:created>
  <dcterms:modified xsi:type="dcterms:W3CDTF">2026-04-20T04:21:15Z</dcterms:modified>
</cp:coreProperties>
</file>